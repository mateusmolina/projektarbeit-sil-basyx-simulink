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70" r:id="rId5"/>
    <p:sldId id="269" r:id="rId6"/>
    <p:sldId id="271" r:id="rId7"/>
    <p:sldId id="272" r:id="rId8"/>
    <p:sldId id="266" r:id="rId9"/>
    <p:sldId id="273" r:id="rId10"/>
    <p:sldId id="274" r:id="rId11"/>
    <p:sldId id="275" r:id="rId12"/>
    <p:sldId id="267" r:id="rId13"/>
    <p:sldId id="268" r:id="rId14"/>
    <p:sldId id="259" r:id="rId15"/>
    <p:sldId id="257" r:id="rId16"/>
    <p:sldId id="264" r:id="rId17"/>
    <p:sldId id="276" r:id="rId18"/>
    <p:sldId id="262" r:id="rId1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1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150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B1B58-3669-46D3-A661-D0E9C6D241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A09E14-FDE8-4F4B-8835-4AA6D2B747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4941D-5246-410E-8B13-8E380FD33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80A91-7431-4091-9641-458FCB3FE87A}" type="datetimeFigureOut">
              <a:rPr lang="de-DE" smtClean="0"/>
              <a:t>02.09.2022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29C68-9BB2-41F4-8AF1-46130900C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292DA-5FF6-42AB-98C2-A96F96910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31261-C098-4344-9B6D-E0A8C1E9628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5029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698BB-5CC3-449B-BD63-A1340E212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A85D4-2BC9-47D6-9FCB-E01843080E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40614-A3C3-4808-8591-99C4F0199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80A91-7431-4091-9641-458FCB3FE87A}" type="datetimeFigureOut">
              <a:rPr lang="de-DE" smtClean="0"/>
              <a:t>02.09.2022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E83E72-2B1A-4934-9876-A81512EEF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FA8D1-BD87-4160-8AED-27D56BDEA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31261-C098-4344-9B6D-E0A8C1E9628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78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1F0F2-B7F4-4A15-A7B0-C6964BD58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1B0CC-8C44-47DD-B8A0-4B7B24835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25601-5B93-4A9B-9EF2-91799DE76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80A91-7431-4091-9641-458FCB3FE87A}" type="datetimeFigureOut">
              <a:rPr lang="de-DE" smtClean="0"/>
              <a:t>02.09.2022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207055-D27F-44E9-B192-E492DF9C8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7EB19-DD31-4698-ABDE-F0F86A39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31261-C098-4344-9B6D-E0A8C1E9628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3434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946E0-2780-4B3A-801F-5A0453C7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160B3-DA9D-4B0A-9B1F-EF3584F31D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BB2038-D1B5-465D-8B5F-07700E608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20DE80-BBFE-48AB-8EFB-CF31F06E2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80A91-7431-4091-9641-458FCB3FE87A}" type="datetimeFigureOut">
              <a:rPr lang="de-DE" smtClean="0"/>
              <a:t>02.09.2022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05F1B-0DFD-4C59-98C3-B5D061CDD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A81EB2-59E0-4681-8A5D-6964F5864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31261-C098-4344-9B6D-E0A8C1E9628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8052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9BF38-79AC-4AD0-A321-6B2368EA3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7BFA97-05C6-4CCB-A25B-1E88E2BBFD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6C711A-BC4B-41AE-932A-4759958F74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B189F2-8106-4756-B075-3906C62AF1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9826EB-CF9B-4900-8EFE-03E264F45C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79DA13-0210-4636-9D39-F385E43CE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80A91-7431-4091-9641-458FCB3FE87A}" type="datetimeFigureOut">
              <a:rPr lang="de-DE" smtClean="0"/>
              <a:t>02.09.2022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FC0D7B-3DFB-4A83-834E-7C7FE2A84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20337F-2B71-4A9D-92CE-7DD9EADF6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31261-C098-4344-9B6D-E0A8C1E9628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055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6E001-F929-4FBD-8495-E930BC951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AB7164-3BC2-4C31-B326-12332E26A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80A91-7431-4091-9641-458FCB3FE87A}" type="datetimeFigureOut">
              <a:rPr lang="de-DE" smtClean="0"/>
              <a:t>02.09.2022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6BFFA9-A418-443A-A785-292D5CDAC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D6ECB5-1CE2-4DB2-9C4C-6520BFBEF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31261-C098-4344-9B6D-E0A8C1E9628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093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77C4FE-C8C7-46BE-81C3-F5AD0039A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80A91-7431-4091-9641-458FCB3FE87A}" type="datetimeFigureOut">
              <a:rPr lang="de-DE" smtClean="0"/>
              <a:t>02.09.2022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7DD1D4-066F-47DA-B0DD-2BA7B8488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DBCF8-209B-4588-9A6B-3D476CB16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31261-C098-4344-9B6D-E0A8C1E9628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3779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11D39-B340-4D6A-B7AD-7A990450A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6AD52-24A4-4F44-80D0-30F2C7A4E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68EC23-47C7-4718-ACED-E6E928290D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C6F20B-D36C-4B94-ABE1-AF7D16210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80A91-7431-4091-9641-458FCB3FE87A}" type="datetimeFigureOut">
              <a:rPr lang="de-DE" smtClean="0"/>
              <a:t>02.09.2022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392BED-8FE9-46D2-BF13-814927C87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ECB73F-48A9-458E-B6C3-108B8D85F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31261-C098-4344-9B6D-E0A8C1E9628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2689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A1A17-FEAB-42F5-919B-5CE3E53B9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44BAC9-2E09-45C7-9500-86AA316C3C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9D36F6-D343-47B7-8541-4DB4D51F43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E1B0C5-3324-4333-A58B-DF1425961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80A91-7431-4091-9641-458FCB3FE87A}" type="datetimeFigureOut">
              <a:rPr lang="de-DE" smtClean="0"/>
              <a:t>02.09.2022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1691A5-A9F6-4C2A-90E9-11846D160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CA8278-39E4-4BE3-BB59-D97811C44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31261-C098-4344-9B6D-E0A8C1E9628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297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B0BCC-5F48-4413-813F-0B27374BF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8B1EC8-7D85-4068-813B-C6173EB7A2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4F126-4F2C-4EB3-AC8B-A98025C6C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80A91-7431-4091-9641-458FCB3FE87A}" type="datetimeFigureOut">
              <a:rPr lang="de-DE" smtClean="0"/>
              <a:t>02.09.2022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58E2D8-E0F2-4B84-9583-DA28CEF9B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364D9-9BB1-4143-903C-C3AA17375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31261-C098-4344-9B6D-E0A8C1E9628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4457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E98A2F-20D0-42BF-BEA2-18E3506DE6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FD2D63-7084-40ED-9344-1B2DFCBFE3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07457-44B7-4259-B343-3EFA58302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80A91-7431-4091-9641-458FCB3FE87A}" type="datetimeFigureOut">
              <a:rPr lang="de-DE" smtClean="0"/>
              <a:t>02.09.2022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792E4-D08E-4760-864B-7DD2E9447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D23DC6-8AF1-400A-AE2B-C5862541A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31261-C098-4344-9B6D-E0A8C1E9628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8846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7F87C1-7385-4AE5-9D0E-39BEB2DE8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ECD3A4-4C4B-424B-B58E-929FEAC2A6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9673E-3078-45D8-BC7D-9930FC283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E80A91-7431-4091-9641-458FCB3FE87A}" type="datetimeFigureOut">
              <a:rPr lang="de-DE" smtClean="0"/>
              <a:t>02.09.2022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E6716-3238-4C3B-A66C-FF672215B0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075A4-7869-43EA-82E5-E4C7812948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631261-C098-4344-9B6D-E0A8C1E9628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60981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FD629-36B7-49F1-873C-A4FB71806E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de-DE" sz="4000" dirty="0"/>
              <a:t>Ermöglichung von Hardware- und Software-in-</a:t>
            </a:r>
            <a:r>
              <a:rPr lang="de-DE" sz="4000" dirty="0" err="1"/>
              <a:t>the</a:t>
            </a:r>
            <a:r>
              <a:rPr lang="de-DE" sz="4000" dirty="0"/>
              <a:t>-Loop durch die Integration von </a:t>
            </a:r>
            <a:r>
              <a:rPr lang="de-DE" sz="4000" dirty="0" err="1"/>
              <a:t>BaSyx</a:t>
            </a:r>
            <a:r>
              <a:rPr lang="de-DE" sz="4000" dirty="0"/>
              <a:t> und MATLAB/Simulink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233E8B-33C3-4535-A3AD-B83DBBFF91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Projektarbeit</a:t>
            </a:r>
          </a:p>
          <a:p>
            <a:r>
              <a:rPr lang="de-DE" dirty="0"/>
              <a:t>Mateus Molina</a:t>
            </a:r>
          </a:p>
          <a:p>
            <a:endParaRPr lang="de-DE" dirty="0"/>
          </a:p>
          <a:p>
            <a:r>
              <a:rPr lang="de-DE" dirty="0"/>
              <a:t>Stand August/2022</a:t>
            </a:r>
          </a:p>
        </p:txBody>
      </p:sp>
    </p:spTree>
    <p:extLst>
      <p:ext uri="{BB962C8B-B14F-4D97-AF65-F5344CB8AC3E}">
        <p14:creationId xmlns:p14="http://schemas.microsoft.com/office/powerpoint/2010/main" val="957832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3DCB1-22AC-435B-88C1-EF23E98F3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Gliederung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3B6E0-E5F0-481F-BB39-1582DD852E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Einleitung</a:t>
            </a:r>
          </a:p>
          <a:p>
            <a:pPr marL="914400" lvl="1" indent="-457200">
              <a:buFont typeface="+mj-lt"/>
              <a:buAutoNum type="arabicPeriod"/>
            </a:pPr>
            <a:r>
              <a:rPr lang="de-DE" dirty="0"/>
              <a:t>Problemstellung</a:t>
            </a:r>
          </a:p>
          <a:p>
            <a:pPr marL="914400" lvl="1" indent="-457200">
              <a:buFont typeface="+mj-lt"/>
              <a:buAutoNum type="arabicPeriod"/>
            </a:pPr>
            <a:r>
              <a:rPr lang="de-DE" dirty="0"/>
              <a:t>Zielstellung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Technische Grundlagen</a:t>
            </a:r>
          </a:p>
          <a:p>
            <a:pPr marL="971550" lvl="1" indent="-514350">
              <a:buFont typeface="+mj-lt"/>
              <a:buAutoNum type="arabicPeriod"/>
            </a:pPr>
            <a:r>
              <a:rPr lang="de-DE" dirty="0"/>
              <a:t>MATLAB/Simulink</a:t>
            </a:r>
          </a:p>
          <a:p>
            <a:pPr marL="971550" lvl="1" indent="-514350">
              <a:buFont typeface="+mj-lt"/>
              <a:buAutoNum type="arabicPeriod"/>
            </a:pPr>
            <a:r>
              <a:rPr lang="de-DE" dirty="0"/>
              <a:t>S-</a:t>
            </a:r>
            <a:r>
              <a:rPr lang="de-DE" dirty="0" err="1"/>
              <a:t>functions</a:t>
            </a:r>
            <a:r>
              <a:rPr lang="de-DE" dirty="0"/>
              <a:t> und C-MEX API</a:t>
            </a:r>
          </a:p>
          <a:p>
            <a:pPr marL="971550" lvl="1" indent="-514350">
              <a:buFont typeface="+mj-lt"/>
              <a:buAutoNum type="arabicPeriod"/>
            </a:pPr>
            <a:r>
              <a:rPr lang="de-DE" dirty="0"/>
              <a:t>Hardware-in-</a:t>
            </a:r>
            <a:r>
              <a:rPr lang="de-DE" dirty="0" err="1"/>
              <a:t>the</a:t>
            </a:r>
            <a:r>
              <a:rPr lang="de-DE" dirty="0"/>
              <a:t>-loop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Entwicklung</a:t>
            </a:r>
          </a:p>
          <a:p>
            <a:pPr marL="971550" lvl="1" indent="-514350">
              <a:buFont typeface="+mj-lt"/>
              <a:buAutoNum type="arabicPeriod"/>
            </a:pPr>
            <a:r>
              <a:rPr lang="de-DE" dirty="0"/>
              <a:t>Anwendungsfälle und Betriebsmodi</a:t>
            </a:r>
          </a:p>
          <a:p>
            <a:pPr marL="971550" lvl="1" indent="-514350">
              <a:buFont typeface="+mj-lt"/>
              <a:buAutoNum type="arabicPeriod"/>
            </a:pPr>
            <a:r>
              <a:rPr lang="de-DE" dirty="0"/>
              <a:t>Anforderungstabelle</a:t>
            </a:r>
          </a:p>
          <a:p>
            <a:pPr marL="971550" lvl="1" indent="-514350">
              <a:buFont typeface="+mj-lt"/>
              <a:buAutoNum type="arabicPeriod"/>
            </a:pPr>
            <a:r>
              <a:rPr lang="de-DE" dirty="0"/>
              <a:t>Paketdiagramm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Validierung</a:t>
            </a:r>
          </a:p>
          <a:p>
            <a:pPr marL="971550" lvl="1" indent="-514350">
              <a:buFont typeface="+mj-lt"/>
              <a:buAutoNum type="arabicPeriod"/>
            </a:pPr>
            <a:r>
              <a:rPr lang="de-DE" dirty="0"/>
              <a:t>Beispiel Heizung</a:t>
            </a:r>
          </a:p>
          <a:p>
            <a:pPr marL="971550" lvl="1" indent="-514350">
              <a:buFont typeface="+mj-lt"/>
              <a:buAutoNum type="arabicPeriod"/>
            </a:pPr>
            <a:endParaRPr lang="de-DE" dirty="0"/>
          </a:p>
          <a:p>
            <a:pPr marL="971550" lvl="1" indent="-514350">
              <a:buFont typeface="+mj-lt"/>
              <a:buAutoNum type="arabicPeriod"/>
            </a:pPr>
            <a:endParaRPr lang="de-DE" dirty="0"/>
          </a:p>
          <a:p>
            <a:pPr marL="971550" lvl="1" indent="-514350">
              <a:buFont typeface="+mj-lt"/>
              <a:buAutoNum type="arabicPeriod"/>
            </a:pPr>
            <a:endParaRPr lang="de-DE" dirty="0"/>
          </a:p>
          <a:p>
            <a:pPr marL="971550" lvl="1" indent="-514350">
              <a:buFont typeface="+mj-lt"/>
              <a:buAutoNum type="arabicPeriod"/>
            </a:pPr>
            <a:endParaRPr lang="de-DE" dirty="0"/>
          </a:p>
          <a:p>
            <a:pPr marL="971550" lvl="1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971550" lvl="1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31441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729C4-E9E7-4007-B609-F478F3910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4810"/>
            <a:ext cx="10515600" cy="627480"/>
          </a:xfrm>
        </p:spPr>
        <p:txBody>
          <a:bodyPr>
            <a:normAutofit fontScale="90000"/>
          </a:bodyPr>
          <a:lstStyle/>
          <a:p>
            <a:r>
              <a:rPr lang="de-DE" b="1" dirty="0"/>
              <a:t>1</a:t>
            </a:r>
            <a:r>
              <a:rPr lang="de-DE" dirty="0"/>
              <a:t> Einleitung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5095C-24C5-4969-B62F-D86AFBB4B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75175"/>
          </a:xfrm>
        </p:spPr>
        <p:txBody>
          <a:bodyPr>
            <a:normAutofit lnSpcReduction="10000"/>
          </a:bodyPr>
          <a:lstStyle/>
          <a:p>
            <a:r>
              <a:rPr lang="de-DE" dirty="0"/>
              <a:t>Keine vereinfachte Kommunikationsschnittstelle zwischen </a:t>
            </a:r>
            <a:r>
              <a:rPr lang="de-DE" dirty="0" err="1"/>
              <a:t>BaSyx</a:t>
            </a:r>
            <a:r>
              <a:rPr lang="de-DE" dirty="0"/>
              <a:t> und MATLAB/Simulink verfügbar</a:t>
            </a:r>
          </a:p>
          <a:p>
            <a:pPr lvl="1"/>
            <a:r>
              <a:rPr lang="de-DE" dirty="0"/>
              <a:t>könnte ein limitierender Faktor für eine breitere Verwendung in der Industrie darstellen</a:t>
            </a:r>
          </a:p>
          <a:p>
            <a:pPr marL="457200" lvl="1" indent="0">
              <a:buNone/>
            </a:pPr>
            <a:endParaRPr lang="de-DE" dirty="0"/>
          </a:p>
          <a:p>
            <a:r>
              <a:rPr lang="de-DE" dirty="0"/>
              <a:t>Eine unkomplizierte und erfolgreiche Verbindung der beiden Plattformen würde dem Stand der Technik folgende Vorteile bringen</a:t>
            </a:r>
          </a:p>
          <a:p>
            <a:pPr lvl="1"/>
            <a:r>
              <a:rPr lang="de-DE" dirty="0"/>
              <a:t>mehr Anreiz, früher im Projekt nach </a:t>
            </a:r>
            <a:r>
              <a:rPr lang="de-DE" dirty="0" err="1"/>
              <a:t>BaSys</a:t>
            </a:r>
            <a:r>
              <a:rPr lang="de-DE" dirty="0"/>
              <a:t> strukturierten digitalen Zwillingen einzusetzen</a:t>
            </a:r>
          </a:p>
          <a:p>
            <a:pPr lvl="1"/>
            <a:r>
              <a:rPr lang="de-DE" dirty="0"/>
              <a:t>vereinfachte und schnellere Anbindung eines zu testen Hardware und Software in ein MATLAB/Simulink-Modell</a:t>
            </a:r>
          </a:p>
          <a:p>
            <a:pPr lvl="1"/>
            <a:r>
              <a:rPr lang="de-DE" dirty="0"/>
              <a:t>wirksame Einbindung realer Daten in Simulink Modellen.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B0BF44C-0EAE-4973-AF2D-A047F8879664}"/>
              </a:ext>
            </a:extLst>
          </p:cNvPr>
          <p:cNvSpPr txBox="1">
            <a:spLocks/>
          </p:cNvSpPr>
          <p:nvPr/>
        </p:nvSpPr>
        <p:spPr>
          <a:xfrm>
            <a:off x="904374" y="681037"/>
            <a:ext cx="10515600" cy="627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dirty="0"/>
              <a:t>Problemstellung</a:t>
            </a:r>
          </a:p>
        </p:txBody>
      </p:sp>
    </p:spTree>
    <p:extLst>
      <p:ext uri="{BB962C8B-B14F-4D97-AF65-F5344CB8AC3E}">
        <p14:creationId xmlns:p14="http://schemas.microsoft.com/office/powerpoint/2010/main" val="3500237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729C4-E9E7-4007-B609-F478F3910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4810"/>
            <a:ext cx="10515600" cy="627480"/>
          </a:xfrm>
        </p:spPr>
        <p:txBody>
          <a:bodyPr>
            <a:normAutofit fontScale="90000"/>
          </a:bodyPr>
          <a:lstStyle/>
          <a:p>
            <a:r>
              <a:rPr lang="de-DE" b="1" dirty="0"/>
              <a:t>1</a:t>
            </a:r>
            <a:r>
              <a:rPr lang="de-DE" dirty="0"/>
              <a:t> Einleitung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B0BF44C-0EAE-4973-AF2D-A047F8879664}"/>
              </a:ext>
            </a:extLst>
          </p:cNvPr>
          <p:cNvSpPr txBox="1">
            <a:spLocks/>
          </p:cNvSpPr>
          <p:nvPr/>
        </p:nvSpPr>
        <p:spPr>
          <a:xfrm>
            <a:off x="755360" y="681037"/>
            <a:ext cx="10515600" cy="627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dirty="0"/>
              <a:t>Zielstellung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0FE3FE4-89E1-4522-9A39-DCEC606D4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2397"/>
            <a:ext cx="10515600" cy="4575175"/>
          </a:xfrm>
        </p:spPr>
        <p:txBody>
          <a:bodyPr>
            <a:normAutofit/>
          </a:bodyPr>
          <a:lstStyle/>
          <a:p>
            <a:r>
              <a:rPr lang="de-DE" dirty="0"/>
              <a:t>Entwicklung einer Bibliothek für MATLAB/Simulink, um die Verbindung mit </a:t>
            </a:r>
            <a:r>
              <a:rPr lang="de-DE" dirty="0" err="1"/>
              <a:t>BaSyx</a:t>
            </a:r>
            <a:r>
              <a:rPr lang="de-DE" dirty="0"/>
              <a:t>-Infrastrukturen zu vereinfachen</a:t>
            </a:r>
          </a:p>
          <a:p>
            <a:pPr lvl="1"/>
            <a:r>
              <a:rPr lang="de-DE" dirty="0"/>
              <a:t>dafür werden C++ und C-MEX eingesetzt</a:t>
            </a:r>
          </a:p>
          <a:p>
            <a:pPr lvl="1"/>
            <a:endParaRPr lang="de-DE" dirty="0"/>
          </a:p>
          <a:p>
            <a:pPr marL="457200" lvl="1" indent="0">
              <a:buNone/>
            </a:pPr>
            <a:endParaRPr lang="de-DE" dirty="0"/>
          </a:p>
          <a:p>
            <a:r>
              <a:rPr lang="de-DE" dirty="0"/>
              <a:t>Anwendungsbeispiel</a:t>
            </a:r>
          </a:p>
        </p:txBody>
      </p:sp>
    </p:spTree>
    <p:extLst>
      <p:ext uri="{BB962C8B-B14F-4D97-AF65-F5344CB8AC3E}">
        <p14:creationId xmlns:p14="http://schemas.microsoft.com/office/powerpoint/2010/main" val="2551168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729C4-E9E7-4007-B609-F478F3910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4810"/>
            <a:ext cx="10515600" cy="627480"/>
          </a:xfrm>
        </p:spPr>
        <p:txBody>
          <a:bodyPr>
            <a:normAutofit fontScale="90000"/>
          </a:bodyPr>
          <a:lstStyle/>
          <a:p>
            <a:r>
              <a:rPr lang="de-DE" b="1" dirty="0"/>
              <a:t>2</a:t>
            </a:r>
            <a:r>
              <a:rPr lang="de-DE" dirty="0"/>
              <a:t> Technische Grundlagen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5095C-24C5-4969-B62F-D86AFBB4BB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/>
              <a:t>MATLAB</a:t>
            </a:r>
            <a:r>
              <a:rPr lang="de-DE" dirty="0"/>
              <a:t> </a:t>
            </a:r>
          </a:p>
          <a:p>
            <a:pPr lvl="1"/>
            <a:r>
              <a:rPr lang="de-DE" dirty="0"/>
              <a:t>bietet die Grundlage, um mathematische Berechnungen, Datenanalyse, Modellbildung und die Entwicklung von interaktiven Anwendungen zu realisieren.</a:t>
            </a:r>
          </a:p>
          <a:p>
            <a:pPr lvl="1"/>
            <a:r>
              <a:rPr lang="de-DE" dirty="0"/>
              <a:t>Eine der bekanntesten </a:t>
            </a:r>
            <a:r>
              <a:rPr lang="de-DE" i="1" dirty="0" err="1"/>
              <a:t>toolboxes</a:t>
            </a:r>
            <a:r>
              <a:rPr lang="de-DE" dirty="0"/>
              <a:t> MATLAB ist </a:t>
            </a:r>
            <a:r>
              <a:rPr lang="de-DE" b="1" dirty="0"/>
              <a:t>Simulink</a:t>
            </a:r>
          </a:p>
          <a:p>
            <a:r>
              <a:rPr lang="de-DE" b="1" dirty="0"/>
              <a:t>Simulink</a:t>
            </a:r>
          </a:p>
          <a:p>
            <a:pPr lvl="1"/>
            <a:r>
              <a:rPr lang="de-DE" dirty="0"/>
              <a:t>eine Blockdiagramm-Umgebung für die Auslegung von Systemen</a:t>
            </a:r>
          </a:p>
          <a:p>
            <a:pPr lvl="1"/>
            <a:r>
              <a:rPr lang="de-DE" dirty="0"/>
              <a:t>Der fundamentale Baustein von </a:t>
            </a:r>
            <a:r>
              <a:rPr lang="de-DE" b="1" dirty="0"/>
              <a:t>Simulink</a:t>
            </a:r>
            <a:r>
              <a:rPr lang="de-DE" dirty="0"/>
              <a:t> ist der </a:t>
            </a:r>
            <a:r>
              <a:rPr lang="de-DE" b="1" dirty="0"/>
              <a:t>Block</a:t>
            </a:r>
          </a:p>
          <a:p>
            <a:pPr lvl="2"/>
            <a:r>
              <a:rPr lang="de-DE" dirty="0"/>
              <a:t>besteht  aus Eingaben, Ausgaben, Zuständen und Parametern</a:t>
            </a:r>
            <a:endParaRPr lang="de-DE" b="1" dirty="0"/>
          </a:p>
          <a:p>
            <a:endParaRPr lang="de-DE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B0BF44C-0EAE-4973-AF2D-A047F8879664}"/>
              </a:ext>
            </a:extLst>
          </p:cNvPr>
          <p:cNvSpPr txBox="1">
            <a:spLocks/>
          </p:cNvSpPr>
          <p:nvPr/>
        </p:nvSpPr>
        <p:spPr>
          <a:xfrm>
            <a:off x="904374" y="681037"/>
            <a:ext cx="10515600" cy="627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dirty="0"/>
              <a:t>MATLAB/Simulink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8055A8-0AC0-4CA1-89CB-0370D54A2F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33536" y="5626716"/>
            <a:ext cx="4331905" cy="986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63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729C4-E9E7-4007-B609-F478F3910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4810"/>
            <a:ext cx="10515600" cy="627480"/>
          </a:xfrm>
        </p:spPr>
        <p:txBody>
          <a:bodyPr>
            <a:normAutofit fontScale="90000"/>
          </a:bodyPr>
          <a:lstStyle/>
          <a:p>
            <a:r>
              <a:rPr lang="de-DE" b="1" dirty="0"/>
              <a:t>2</a:t>
            </a:r>
            <a:r>
              <a:rPr lang="de-DE" dirty="0"/>
              <a:t> Technische Grundlagen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B0BF44C-0EAE-4973-AF2D-A047F8879664}"/>
              </a:ext>
            </a:extLst>
          </p:cNvPr>
          <p:cNvSpPr txBox="1">
            <a:spLocks/>
          </p:cNvSpPr>
          <p:nvPr/>
        </p:nvSpPr>
        <p:spPr>
          <a:xfrm>
            <a:off x="904374" y="681037"/>
            <a:ext cx="10515600" cy="627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dirty="0"/>
              <a:t>MATLAB/Simulink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85928F-CD4A-4B68-9DEB-B5071C36C5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34026" y="2228189"/>
            <a:ext cx="8724988" cy="1671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904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729C4-E9E7-4007-B609-F478F3910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4810"/>
            <a:ext cx="10515600" cy="627480"/>
          </a:xfrm>
        </p:spPr>
        <p:txBody>
          <a:bodyPr>
            <a:normAutofit fontScale="90000"/>
          </a:bodyPr>
          <a:lstStyle/>
          <a:p>
            <a:r>
              <a:rPr lang="de-DE" b="1" dirty="0"/>
              <a:t>2</a:t>
            </a:r>
            <a:r>
              <a:rPr lang="de-DE" dirty="0"/>
              <a:t> Technische Grundlagen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B0BF44C-0EAE-4973-AF2D-A047F8879664}"/>
              </a:ext>
            </a:extLst>
          </p:cNvPr>
          <p:cNvSpPr txBox="1">
            <a:spLocks/>
          </p:cNvSpPr>
          <p:nvPr/>
        </p:nvSpPr>
        <p:spPr>
          <a:xfrm>
            <a:off x="904374" y="681037"/>
            <a:ext cx="10515600" cy="627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dirty="0"/>
              <a:t>MATLAB/Simulink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220725-FC17-4AC6-9B2B-99401B5102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31758" y="1896709"/>
            <a:ext cx="8738937" cy="4046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124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729C4-E9E7-4007-B609-F478F3910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4810"/>
            <a:ext cx="10515600" cy="627480"/>
          </a:xfrm>
        </p:spPr>
        <p:txBody>
          <a:bodyPr>
            <a:normAutofit fontScale="90000"/>
          </a:bodyPr>
          <a:lstStyle/>
          <a:p>
            <a:r>
              <a:rPr lang="de-DE" b="1" dirty="0"/>
              <a:t>2</a:t>
            </a:r>
            <a:r>
              <a:rPr lang="de-DE" dirty="0"/>
              <a:t> Technische Grundlagen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5095C-24C5-4969-B62F-D86AFBB4BB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S-</a:t>
            </a:r>
            <a:r>
              <a:rPr lang="de-DE" dirty="0" err="1"/>
              <a:t>functions</a:t>
            </a:r>
            <a:r>
              <a:rPr lang="de-DE" dirty="0"/>
              <a:t> </a:t>
            </a:r>
          </a:p>
          <a:p>
            <a:pPr lvl="1"/>
            <a:r>
              <a:rPr lang="de-DE" dirty="0"/>
              <a:t>Mechanismus zur Erweiterung der Fähigkeiten der Simulink-Umgebung</a:t>
            </a:r>
          </a:p>
          <a:p>
            <a:pPr lvl="1"/>
            <a:r>
              <a:rPr lang="de-DE" dirty="0"/>
              <a:t>Sie werden in jedem Simulationsschritt ausgeführt</a:t>
            </a:r>
          </a:p>
          <a:p>
            <a:pPr lvl="1"/>
            <a:r>
              <a:rPr lang="de-DE" dirty="0"/>
              <a:t>können durch eine der unterstützten Programmiersprachen (z.B. C/C++) über eine von MATLAB </a:t>
            </a:r>
            <a:r>
              <a:rPr lang="de-DE" dirty="0" err="1"/>
              <a:t>veröffentlicher</a:t>
            </a:r>
            <a:r>
              <a:rPr lang="de-DE" dirty="0"/>
              <a:t> API (</a:t>
            </a:r>
            <a:r>
              <a:rPr lang="de-DE" i="1" dirty="0"/>
              <a:t>MEX API) </a:t>
            </a:r>
            <a:r>
              <a:rPr lang="de-DE" dirty="0"/>
              <a:t>entwickelt werden</a:t>
            </a:r>
            <a:r>
              <a:rPr lang="de-DE" i="1" dirty="0"/>
              <a:t> </a:t>
            </a:r>
          </a:p>
          <a:p>
            <a:pPr marL="457200" lvl="1" indent="0">
              <a:buNone/>
            </a:pPr>
            <a:endParaRPr lang="de-DE" i="1" dirty="0"/>
          </a:p>
          <a:p>
            <a:r>
              <a:rPr lang="de-DE" dirty="0"/>
              <a:t>C-MEX</a:t>
            </a:r>
          </a:p>
          <a:p>
            <a:pPr lvl="1"/>
            <a:r>
              <a:rPr lang="de-DE" dirty="0"/>
              <a:t>C API für den Entwurf Simulink-Blöcke</a:t>
            </a:r>
          </a:p>
          <a:p>
            <a:pPr lvl="1"/>
            <a:r>
              <a:rPr lang="de-DE" dirty="0"/>
              <a:t>Wird von der Simulink-Engine als eine Reihenfolge von </a:t>
            </a:r>
            <a:r>
              <a:rPr lang="de-DE" i="1" dirty="0" err="1"/>
              <a:t>callbacks</a:t>
            </a:r>
            <a:r>
              <a:rPr lang="de-DE" dirty="0"/>
              <a:t> interpretiert	</a:t>
            </a:r>
            <a:endParaRPr lang="de-DE" i="1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B0BF44C-0EAE-4973-AF2D-A047F8879664}"/>
              </a:ext>
            </a:extLst>
          </p:cNvPr>
          <p:cNvSpPr txBox="1">
            <a:spLocks/>
          </p:cNvSpPr>
          <p:nvPr/>
        </p:nvSpPr>
        <p:spPr>
          <a:xfrm>
            <a:off x="904374" y="681037"/>
            <a:ext cx="10515600" cy="627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i="1" dirty="0"/>
              <a:t>S-</a:t>
            </a:r>
            <a:r>
              <a:rPr lang="de-DE" sz="2400" i="1" dirty="0" err="1"/>
              <a:t>functions</a:t>
            </a:r>
            <a:r>
              <a:rPr lang="de-DE" sz="2400" i="1" dirty="0"/>
              <a:t> </a:t>
            </a:r>
            <a:r>
              <a:rPr lang="de-DE" sz="2400" dirty="0"/>
              <a:t>und </a:t>
            </a:r>
            <a:r>
              <a:rPr lang="de-DE" sz="2400" i="1" dirty="0"/>
              <a:t>C-MEX API</a:t>
            </a:r>
          </a:p>
        </p:txBody>
      </p:sp>
    </p:spTree>
    <p:extLst>
      <p:ext uri="{BB962C8B-B14F-4D97-AF65-F5344CB8AC3E}">
        <p14:creationId xmlns:p14="http://schemas.microsoft.com/office/powerpoint/2010/main" val="2356680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16D7C8D-40F0-4DD8-9D68-A47E0CCAAD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99969" y="812474"/>
            <a:ext cx="5992061" cy="58586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5729C4-E9E7-4007-B609-F478F3910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4810"/>
            <a:ext cx="10515600" cy="627480"/>
          </a:xfrm>
        </p:spPr>
        <p:txBody>
          <a:bodyPr>
            <a:normAutofit fontScale="90000"/>
          </a:bodyPr>
          <a:lstStyle/>
          <a:p>
            <a:r>
              <a:rPr lang="de-DE" b="1" dirty="0"/>
              <a:t>2</a:t>
            </a:r>
            <a:r>
              <a:rPr lang="de-DE" dirty="0"/>
              <a:t> Technische Grundlagen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B0BF44C-0EAE-4973-AF2D-A047F8879664}"/>
              </a:ext>
            </a:extLst>
          </p:cNvPr>
          <p:cNvSpPr txBox="1">
            <a:spLocks/>
          </p:cNvSpPr>
          <p:nvPr/>
        </p:nvSpPr>
        <p:spPr>
          <a:xfrm>
            <a:off x="904374" y="681037"/>
            <a:ext cx="10515600" cy="627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i="1" dirty="0"/>
              <a:t>S-</a:t>
            </a:r>
            <a:r>
              <a:rPr lang="de-DE" sz="2400" i="1" dirty="0" err="1"/>
              <a:t>functions</a:t>
            </a:r>
            <a:r>
              <a:rPr lang="de-DE" sz="2400" i="1" dirty="0"/>
              <a:t> </a:t>
            </a:r>
            <a:r>
              <a:rPr lang="de-DE" sz="2400" dirty="0"/>
              <a:t>und </a:t>
            </a:r>
            <a:r>
              <a:rPr lang="de-DE" sz="2400" i="1" dirty="0"/>
              <a:t>C-MEX API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60AA63-A827-4655-AC74-E091702B8461}"/>
              </a:ext>
            </a:extLst>
          </p:cNvPr>
          <p:cNvSpPr/>
          <p:nvPr/>
        </p:nvSpPr>
        <p:spPr>
          <a:xfrm>
            <a:off x="7188868" y="244810"/>
            <a:ext cx="2947737" cy="54581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2614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729C4-E9E7-4007-B609-F478F3910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4810"/>
            <a:ext cx="10515600" cy="627480"/>
          </a:xfrm>
        </p:spPr>
        <p:txBody>
          <a:bodyPr>
            <a:normAutofit fontScale="90000"/>
          </a:bodyPr>
          <a:lstStyle/>
          <a:p>
            <a:r>
              <a:rPr lang="de-DE" b="1" dirty="0"/>
              <a:t>2</a:t>
            </a:r>
            <a:r>
              <a:rPr lang="de-DE" dirty="0"/>
              <a:t> Technische Grundlagen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B0BF44C-0EAE-4973-AF2D-A047F8879664}"/>
              </a:ext>
            </a:extLst>
          </p:cNvPr>
          <p:cNvSpPr txBox="1">
            <a:spLocks/>
          </p:cNvSpPr>
          <p:nvPr/>
        </p:nvSpPr>
        <p:spPr>
          <a:xfrm>
            <a:off x="904374" y="681037"/>
            <a:ext cx="10515600" cy="627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i="1" dirty="0"/>
              <a:t>S-</a:t>
            </a:r>
            <a:r>
              <a:rPr lang="de-DE" sz="2400" i="1" dirty="0" err="1"/>
              <a:t>functions</a:t>
            </a:r>
            <a:r>
              <a:rPr lang="de-DE" sz="2400" i="1" dirty="0"/>
              <a:t> </a:t>
            </a:r>
            <a:r>
              <a:rPr lang="de-DE" sz="2400" dirty="0"/>
              <a:t>und </a:t>
            </a:r>
            <a:r>
              <a:rPr lang="de-DE" sz="2400" i="1" dirty="0"/>
              <a:t>C-MEX API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06E737-D19A-40F8-A29E-F9EFDA56D71B}"/>
              </a:ext>
            </a:extLst>
          </p:cNvPr>
          <p:cNvGrpSpPr/>
          <p:nvPr/>
        </p:nvGrpSpPr>
        <p:grpSpPr>
          <a:xfrm>
            <a:off x="2808527" y="1537546"/>
            <a:ext cx="6073559" cy="4906310"/>
            <a:chOff x="2808527" y="1429173"/>
            <a:chExt cx="6073559" cy="490631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B6139D1-0115-445D-B593-2FDB5302EF0A}"/>
                </a:ext>
              </a:extLst>
            </p:cNvPr>
            <p:cNvGrpSpPr/>
            <p:nvPr/>
          </p:nvGrpSpPr>
          <p:grpSpPr>
            <a:xfrm>
              <a:off x="2808527" y="1429173"/>
              <a:ext cx="6073559" cy="4906310"/>
              <a:chOff x="2124421" y="1682424"/>
              <a:chExt cx="5365237" cy="4334117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52780D6A-2B56-47FA-A407-38216DDD45F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-245" t="1998" r="245" b="80792"/>
              <a:stretch/>
            </p:blipFill>
            <p:spPr>
              <a:xfrm>
                <a:off x="2376588" y="1682424"/>
                <a:ext cx="4907706" cy="1180340"/>
              </a:xfrm>
              <a:prstGeom prst="rect">
                <a:avLst/>
              </a:prstGeom>
            </p:spPr>
          </p:pic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74651F01-C92E-4203-AB31-DF4F731034E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49160" b="31696"/>
              <a:stretch/>
            </p:blipFill>
            <p:spPr>
              <a:xfrm>
                <a:off x="2376588" y="3223042"/>
                <a:ext cx="4907706" cy="1312863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A6C85EE6-05E9-4C00-A122-ADBD19C23DE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1103" t="80409" r="-1103" b="468"/>
              <a:stretch/>
            </p:blipFill>
            <p:spPr>
              <a:xfrm>
                <a:off x="2376588" y="4705098"/>
                <a:ext cx="4907706" cy="1311443"/>
              </a:xfrm>
              <a:prstGeom prst="rect">
                <a:avLst/>
              </a:prstGeom>
            </p:spPr>
          </p:pic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D028169-F31F-43FF-9D1D-01F241687C70}"/>
                  </a:ext>
                </a:extLst>
              </p:cNvPr>
              <p:cNvSpPr/>
              <p:nvPr/>
            </p:nvSpPr>
            <p:spPr>
              <a:xfrm>
                <a:off x="2466474" y="2336800"/>
                <a:ext cx="5023184" cy="516467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alpha val="0"/>
                    </a:schemeClr>
                  </a:gs>
                  <a:gs pos="78000">
                    <a:schemeClr val="bg1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5793C9D-A4EE-438B-AD90-D1E141583303}"/>
                  </a:ext>
                </a:extLst>
              </p:cNvPr>
              <p:cNvSpPr/>
              <p:nvPr/>
            </p:nvSpPr>
            <p:spPr>
              <a:xfrm>
                <a:off x="2124421" y="4074160"/>
                <a:ext cx="5023184" cy="516467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alpha val="0"/>
                    </a:schemeClr>
                  </a:gs>
                  <a:gs pos="78000">
                    <a:schemeClr val="bg1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AD12105-4188-4367-A095-B9552DFF393C}"/>
                </a:ext>
              </a:extLst>
            </p:cNvPr>
            <p:cNvSpPr/>
            <p:nvPr/>
          </p:nvSpPr>
          <p:spPr>
            <a:xfrm>
              <a:off x="2963261" y="5127413"/>
              <a:ext cx="5686348" cy="11176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78000">
                  <a:schemeClr val="bg1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349010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BE36427A-B92D-42E2-87BC-DD0DD9DA58F3}"/>
              </a:ext>
            </a:extLst>
          </p:cNvPr>
          <p:cNvSpPr/>
          <p:nvPr/>
        </p:nvSpPr>
        <p:spPr>
          <a:xfrm>
            <a:off x="7335650" y="1423941"/>
            <a:ext cx="3908083" cy="388042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600" dirty="0">
                <a:solidFill>
                  <a:schemeClr val="tx1"/>
                </a:solidFill>
              </a:rPr>
              <a:t>Prüfling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729C4-E9E7-4007-B609-F478F3910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4810"/>
            <a:ext cx="10515600" cy="627480"/>
          </a:xfrm>
        </p:spPr>
        <p:txBody>
          <a:bodyPr>
            <a:normAutofit fontScale="90000"/>
          </a:bodyPr>
          <a:lstStyle/>
          <a:p>
            <a:r>
              <a:rPr lang="de-DE" b="1" dirty="0"/>
              <a:t>2</a:t>
            </a:r>
            <a:r>
              <a:rPr lang="de-DE" dirty="0"/>
              <a:t> Technische Grundlagen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B0BF44C-0EAE-4973-AF2D-A047F8879664}"/>
              </a:ext>
            </a:extLst>
          </p:cNvPr>
          <p:cNvSpPr txBox="1">
            <a:spLocks/>
          </p:cNvSpPr>
          <p:nvPr/>
        </p:nvSpPr>
        <p:spPr>
          <a:xfrm>
            <a:off x="938241" y="660994"/>
            <a:ext cx="10515600" cy="627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dirty="0"/>
              <a:t>Hardware-in-</a:t>
            </a:r>
            <a:r>
              <a:rPr lang="de-DE" sz="2400" dirty="0" err="1"/>
              <a:t>the</a:t>
            </a:r>
            <a:r>
              <a:rPr lang="de-DE" sz="2400" dirty="0"/>
              <a:t>-loop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CDB77AA-D7FB-4907-9ADB-935A3C15F2E5}"/>
              </a:ext>
            </a:extLst>
          </p:cNvPr>
          <p:cNvSpPr/>
          <p:nvPr/>
        </p:nvSpPr>
        <p:spPr>
          <a:xfrm>
            <a:off x="1950849" y="2782676"/>
            <a:ext cx="2536614" cy="1292645"/>
          </a:xfrm>
          <a:prstGeom prst="roundRect">
            <a:avLst>
              <a:gd name="adj" fmla="val 6827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8300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«Simulink-Modell»</a:t>
            </a:r>
          </a:p>
          <a:p>
            <a:pPr algn="ctr"/>
            <a:endParaRPr lang="de-DE" sz="1400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de-DE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Umgebungsmodell</a:t>
            </a:r>
          </a:p>
          <a:p>
            <a:pPr algn="ctr"/>
            <a:endParaRPr lang="de-DE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3D627DB-DB61-4770-94ED-604DEF12CC49}"/>
              </a:ext>
            </a:extLst>
          </p:cNvPr>
          <p:cNvSpPr/>
          <p:nvPr/>
        </p:nvSpPr>
        <p:spPr>
          <a:xfrm>
            <a:off x="7388993" y="2782675"/>
            <a:ext cx="2536614" cy="1292645"/>
          </a:xfrm>
          <a:prstGeom prst="roundRect">
            <a:avLst>
              <a:gd name="adj" fmla="val 6827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8300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«Hardware»</a:t>
            </a:r>
          </a:p>
          <a:p>
            <a:pPr algn="ctr"/>
            <a:endParaRPr lang="de-DE" sz="1400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de-DE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SPS </a:t>
            </a:r>
          </a:p>
          <a:p>
            <a:pPr algn="ctr"/>
            <a:endParaRPr lang="de-DE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FF09CB2-4DB2-4C7D-97EE-68C0EC2CEECC}"/>
              </a:ext>
            </a:extLst>
          </p:cNvPr>
          <p:cNvSpPr/>
          <p:nvPr/>
        </p:nvSpPr>
        <p:spPr>
          <a:xfrm>
            <a:off x="748857" y="1423941"/>
            <a:ext cx="3823144" cy="388042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600" dirty="0">
                <a:solidFill>
                  <a:schemeClr val="tx1"/>
                </a:solidFill>
              </a:rPr>
              <a:t>Host-Maschine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01B7936-17CC-4253-942B-2194393D9011}"/>
              </a:ext>
            </a:extLst>
          </p:cNvPr>
          <p:cNvCxnSpPr>
            <a:cxnSpLocks/>
            <a:stCxn id="46" idx="3"/>
            <a:endCxn id="47" idx="1"/>
          </p:cNvCxnSpPr>
          <p:nvPr/>
        </p:nvCxnSpPr>
        <p:spPr>
          <a:xfrm>
            <a:off x="4659209" y="3364153"/>
            <a:ext cx="255451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DC03623-B66C-4EBC-A160-0AE012A742CA}"/>
              </a:ext>
            </a:extLst>
          </p:cNvPr>
          <p:cNvSpPr txBox="1"/>
          <p:nvPr/>
        </p:nvSpPr>
        <p:spPr>
          <a:xfrm>
            <a:off x="5224064" y="3102543"/>
            <a:ext cx="13140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«</a:t>
            </a:r>
            <a:r>
              <a:rPr lang="de-DE" sz="1400" dirty="0" err="1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telemetrie</a:t>
            </a:r>
            <a:r>
              <a:rPr lang="de-DE" sz="14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»</a:t>
            </a:r>
            <a:endParaRPr lang="de-DE" sz="1400" dirty="0"/>
          </a:p>
          <a:p>
            <a:pPr algn="ctr"/>
            <a:r>
              <a:rPr lang="de-DE" sz="14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400" dirty="0"/>
              <a:t>Stimuli</a:t>
            </a:r>
            <a:endParaRPr lang="de-DE" sz="1400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54B58A3E-3528-42EC-9B88-F76B6B420592}"/>
              </a:ext>
            </a:extLst>
          </p:cNvPr>
          <p:cNvSpPr/>
          <p:nvPr/>
        </p:nvSpPr>
        <p:spPr>
          <a:xfrm>
            <a:off x="4433279" y="3267664"/>
            <a:ext cx="225930" cy="192977"/>
          </a:xfrm>
          <a:prstGeom prst="roundRect">
            <a:avLst>
              <a:gd name="adj" fmla="val 6827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8300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C18FA956-6E21-41C1-BF13-7D4A5D3CDC32}"/>
              </a:ext>
            </a:extLst>
          </p:cNvPr>
          <p:cNvSpPr/>
          <p:nvPr/>
        </p:nvSpPr>
        <p:spPr>
          <a:xfrm>
            <a:off x="7213723" y="3267664"/>
            <a:ext cx="225930" cy="192977"/>
          </a:xfrm>
          <a:prstGeom prst="roundRect">
            <a:avLst>
              <a:gd name="adj" fmla="val 6827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8300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0837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729C4-E9E7-4007-B609-F478F3910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4810"/>
            <a:ext cx="10515600" cy="627480"/>
          </a:xfrm>
        </p:spPr>
        <p:txBody>
          <a:bodyPr>
            <a:normAutofit fontScale="90000"/>
          </a:bodyPr>
          <a:lstStyle/>
          <a:p>
            <a:r>
              <a:rPr lang="de-DE" b="1" dirty="0"/>
              <a:t>3</a:t>
            </a:r>
            <a:r>
              <a:rPr lang="de-DE" dirty="0"/>
              <a:t> Entwicklung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B0BF44C-0EAE-4973-AF2D-A047F8879664}"/>
              </a:ext>
            </a:extLst>
          </p:cNvPr>
          <p:cNvSpPr txBox="1">
            <a:spLocks/>
          </p:cNvSpPr>
          <p:nvPr/>
        </p:nvSpPr>
        <p:spPr>
          <a:xfrm>
            <a:off x="904374" y="681037"/>
            <a:ext cx="10515600" cy="627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dirty="0"/>
              <a:t>Anwendungsfälle und Betriebsmodi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BF78A5-2545-41DB-B501-E807ACC4C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374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/>
              <a:t>Eine Schnittstelle zum Testen von einer Hardware/Software über Simulink: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mit einem am Anfang aufgenommenen Abbild der Parameterwerte, indem das Lesen von Parametern einmal am Anfang der Simulation und Setzen einmal am Ende dieser stattfindet </a:t>
            </a:r>
            <a:r>
              <a:rPr lang="de-DE" b="1" dirty="0"/>
              <a:t>(Abbild-Modus)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mit verlangsamter Simulationstaktung. Dies ermöglicht das in Echtzeit Lesen und Setzen von Parametern des digitalen Zwillings im Laufe der Simulation. Die Abtast-, bzw. Aktualisierungsrate können im Block eingestellt werden.</a:t>
            </a:r>
            <a:r>
              <a:rPr lang="de-DE" b="1" dirty="0"/>
              <a:t> (Echtzeitmodus)</a:t>
            </a:r>
          </a:p>
        </p:txBody>
      </p:sp>
    </p:spTree>
    <p:extLst>
      <p:ext uri="{BB962C8B-B14F-4D97-AF65-F5344CB8AC3E}">
        <p14:creationId xmlns:p14="http://schemas.microsoft.com/office/powerpoint/2010/main" val="1782902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729C4-E9E7-4007-B609-F478F3910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4810"/>
            <a:ext cx="10515600" cy="627480"/>
          </a:xfrm>
        </p:spPr>
        <p:txBody>
          <a:bodyPr>
            <a:normAutofit fontScale="90000"/>
          </a:bodyPr>
          <a:lstStyle/>
          <a:p>
            <a:r>
              <a:rPr lang="de-DE" b="1" dirty="0"/>
              <a:t>3</a:t>
            </a:r>
            <a:r>
              <a:rPr lang="de-DE" dirty="0"/>
              <a:t> Entwicklung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B0BF44C-0EAE-4973-AF2D-A047F8879664}"/>
              </a:ext>
            </a:extLst>
          </p:cNvPr>
          <p:cNvSpPr txBox="1">
            <a:spLocks/>
          </p:cNvSpPr>
          <p:nvPr/>
        </p:nvSpPr>
        <p:spPr>
          <a:xfrm>
            <a:off x="904374" y="681037"/>
            <a:ext cx="10515600" cy="627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dirty="0"/>
              <a:t>Anforderungstabelle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DD6DB44D-E139-44EF-BCBB-47668429C4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55533"/>
            <a:ext cx="10515600" cy="3254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6660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729C4-E9E7-4007-B609-F478F3910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4810"/>
            <a:ext cx="10515600" cy="627480"/>
          </a:xfrm>
        </p:spPr>
        <p:txBody>
          <a:bodyPr>
            <a:normAutofit fontScale="90000"/>
          </a:bodyPr>
          <a:lstStyle/>
          <a:p>
            <a:r>
              <a:rPr lang="de-DE" b="1" dirty="0"/>
              <a:t>3</a:t>
            </a:r>
            <a:r>
              <a:rPr lang="de-DE" dirty="0"/>
              <a:t> Entwicklung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3D52154-7D56-435A-AFC1-9B61893C57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419"/>
          <a:stretch/>
        </p:blipFill>
        <p:spPr>
          <a:xfrm>
            <a:off x="838200" y="1212265"/>
            <a:ext cx="2257213" cy="5273801"/>
          </a:xfr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5B0BF44C-0EAE-4973-AF2D-A047F8879664}"/>
              </a:ext>
            </a:extLst>
          </p:cNvPr>
          <p:cNvSpPr txBox="1">
            <a:spLocks/>
          </p:cNvSpPr>
          <p:nvPr/>
        </p:nvSpPr>
        <p:spPr>
          <a:xfrm>
            <a:off x="904374" y="681037"/>
            <a:ext cx="10515600" cy="627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dirty="0"/>
              <a:t>Paketdiagramm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B2F7DB-7A3E-4910-88C6-5A1CCE35191F}"/>
              </a:ext>
            </a:extLst>
          </p:cNvPr>
          <p:cNvSpPr/>
          <p:nvPr/>
        </p:nvSpPr>
        <p:spPr>
          <a:xfrm>
            <a:off x="995680" y="2858347"/>
            <a:ext cx="1788160" cy="13682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4" name="Content Placeholder 5">
            <a:extLst>
              <a:ext uri="{FF2B5EF4-FFF2-40B4-BE49-F238E27FC236}">
                <a16:creationId xmlns:a16="http://schemas.microsoft.com/office/drawing/2014/main" id="{08D71119-27DE-414D-9AD6-80C5074E96D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6" r="11672"/>
          <a:stretch/>
        </p:blipFill>
        <p:spPr>
          <a:xfrm>
            <a:off x="3095413" y="1212264"/>
            <a:ext cx="6644640" cy="5273801"/>
          </a:xfrm>
          <a:prstGeom prst="rect">
            <a:avLst/>
          </a:prstGeom>
        </p:spPr>
      </p:pic>
      <p:pic>
        <p:nvPicPr>
          <p:cNvPr id="15" name="Content Placeholder 5">
            <a:extLst>
              <a:ext uri="{FF2B5EF4-FFF2-40B4-BE49-F238E27FC236}">
                <a16:creationId xmlns:a16="http://schemas.microsoft.com/office/drawing/2014/main" id="{6C655F53-C5A0-46A3-907F-201CB88825B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666" t="2290" r="-1350" b="-2290"/>
          <a:stretch/>
        </p:blipFill>
        <p:spPr>
          <a:xfrm>
            <a:off x="9740053" y="1332616"/>
            <a:ext cx="1367913" cy="5273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461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729C4-E9E7-4007-B609-F478F3910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4810"/>
            <a:ext cx="10515600" cy="627480"/>
          </a:xfrm>
        </p:spPr>
        <p:txBody>
          <a:bodyPr>
            <a:normAutofit fontScale="90000"/>
          </a:bodyPr>
          <a:lstStyle/>
          <a:p>
            <a:r>
              <a:rPr lang="de-DE" b="1" dirty="0"/>
              <a:t>4</a:t>
            </a:r>
            <a:r>
              <a:rPr lang="de-DE" dirty="0"/>
              <a:t> Validierung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B0BF44C-0EAE-4973-AF2D-A047F8879664}"/>
              </a:ext>
            </a:extLst>
          </p:cNvPr>
          <p:cNvSpPr txBox="1">
            <a:spLocks/>
          </p:cNvSpPr>
          <p:nvPr/>
        </p:nvSpPr>
        <p:spPr>
          <a:xfrm>
            <a:off x="904374" y="681037"/>
            <a:ext cx="10515600" cy="627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dirty="0"/>
              <a:t>Beispiel Heizung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1C75723-70F6-4648-807B-2D936B90EBD7}"/>
              </a:ext>
            </a:extLst>
          </p:cNvPr>
          <p:cNvGrpSpPr/>
          <p:nvPr/>
        </p:nvGrpSpPr>
        <p:grpSpPr>
          <a:xfrm>
            <a:off x="1254664" y="1467851"/>
            <a:ext cx="9682672" cy="4975059"/>
            <a:chOff x="1600200" y="1371599"/>
            <a:chExt cx="6190920" cy="318096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90CE5DA-AA99-4B27-880B-DEC3392154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/>
              <a:alphaModFix/>
            </a:blip>
            <a:srcRect/>
            <a:stretch>
              <a:fillRect/>
            </a:stretch>
          </p:blipFill>
          <p:spPr>
            <a:xfrm>
              <a:off x="1600200" y="1371599"/>
              <a:ext cx="6190920" cy="3180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53F0876-3D5B-4187-88FB-6384F42977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/>
              <a:alphaModFix/>
            </a:blip>
            <a:srcRect/>
            <a:stretch>
              <a:fillRect/>
            </a:stretch>
          </p:blipFill>
          <p:spPr>
            <a:xfrm>
              <a:off x="5962319" y="1508760"/>
              <a:ext cx="1600200" cy="6663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4041396-91EE-463D-8D62-92A7C6042C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lum/>
              <a:alphaModFix/>
            </a:blip>
            <a:srcRect/>
            <a:stretch>
              <a:fillRect/>
            </a:stretch>
          </p:blipFill>
          <p:spPr>
            <a:xfrm>
              <a:off x="2702520" y="2495160"/>
              <a:ext cx="516599" cy="51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13E05E7-135D-42A0-B6A9-F082011127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/>
              <a:alphaModFix/>
            </a:blip>
            <a:srcRect/>
            <a:stretch>
              <a:fillRect/>
            </a:stretch>
          </p:blipFill>
          <p:spPr>
            <a:xfrm>
              <a:off x="4362120" y="2495160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41995F3-2F13-4EED-9D1D-67924A03F3D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lum/>
              <a:alphaModFix/>
            </a:blip>
            <a:srcRect/>
            <a:stretch>
              <a:fillRect/>
            </a:stretch>
          </p:blipFill>
          <p:spPr>
            <a:xfrm>
              <a:off x="5868720" y="2459520"/>
              <a:ext cx="815400" cy="52884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982852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A0856F4-7C5F-42BB-B020-1C5D6626E018}"/>
              </a:ext>
            </a:extLst>
          </p:cNvPr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1805646" y="208377"/>
            <a:ext cx="8802766" cy="664962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5729C4-E9E7-4007-B609-F478F3910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4810"/>
            <a:ext cx="10515600" cy="627480"/>
          </a:xfrm>
        </p:spPr>
        <p:txBody>
          <a:bodyPr>
            <a:normAutofit fontScale="90000"/>
          </a:bodyPr>
          <a:lstStyle/>
          <a:p>
            <a:r>
              <a:rPr lang="de-DE" b="1" dirty="0"/>
              <a:t>4</a:t>
            </a:r>
            <a:r>
              <a:rPr lang="de-DE" dirty="0"/>
              <a:t> Validierung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B0BF44C-0EAE-4973-AF2D-A047F8879664}"/>
              </a:ext>
            </a:extLst>
          </p:cNvPr>
          <p:cNvSpPr txBox="1">
            <a:spLocks/>
          </p:cNvSpPr>
          <p:nvPr/>
        </p:nvSpPr>
        <p:spPr>
          <a:xfrm>
            <a:off x="904374" y="681037"/>
            <a:ext cx="10515600" cy="627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dirty="0"/>
              <a:t>Beispiel Heizung</a:t>
            </a:r>
          </a:p>
        </p:txBody>
      </p:sp>
    </p:spTree>
    <p:extLst>
      <p:ext uri="{BB962C8B-B14F-4D97-AF65-F5344CB8AC3E}">
        <p14:creationId xmlns:p14="http://schemas.microsoft.com/office/powerpoint/2010/main" val="27846910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729C4-E9E7-4007-B609-F478F3910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4810"/>
            <a:ext cx="10515600" cy="627480"/>
          </a:xfrm>
        </p:spPr>
        <p:txBody>
          <a:bodyPr>
            <a:normAutofit fontScale="90000"/>
          </a:bodyPr>
          <a:lstStyle/>
          <a:p>
            <a:r>
              <a:rPr lang="de-DE" b="1" dirty="0"/>
              <a:t>4</a:t>
            </a:r>
            <a:r>
              <a:rPr lang="de-DE" dirty="0"/>
              <a:t> Validierung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B0BF44C-0EAE-4973-AF2D-A047F8879664}"/>
              </a:ext>
            </a:extLst>
          </p:cNvPr>
          <p:cNvSpPr txBox="1">
            <a:spLocks/>
          </p:cNvSpPr>
          <p:nvPr/>
        </p:nvSpPr>
        <p:spPr>
          <a:xfrm>
            <a:off x="904374" y="681037"/>
            <a:ext cx="10515600" cy="627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dirty="0"/>
              <a:t>Beispiel Heizung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5B369A-A65A-47C1-BE98-9E2D8E015DF1}"/>
              </a:ext>
            </a:extLst>
          </p:cNvPr>
          <p:cNvSpPr/>
          <p:nvPr/>
        </p:nvSpPr>
        <p:spPr>
          <a:xfrm>
            <a:off x="4196080" y="2399453"/>
            <a:ext cx="3799840" cy="102954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000" b="1" dirty="0">
                <a:solidFill>
                  <a:schemeClr val="tx1"/>
                </a:solidFill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2533061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729C4-E9E7-4007-B609-F478F3910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4810"/>
            <a:ext cx="10515600" cy="627480"/>
          </a:xfrm>
        </p:spPr>
        <p:txBody>
          <a:bodyPr>
            <a:normAutofit fontScale="90000"/>
          </a:bodyPr>
          <a:lstStyle/>
          <a:p>
            <a:r>
              <a:rPr lang="de-DE" b="1" dirty="0"/>
              <a:t>/ </a:t>
            </a:r>
            <a:r>
              <a:rPr lang="de-DE" dirty="0"/>
              <a:t>Backup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B0BF44C-0EAE-4973-AF2D-A047F8879664}"/>
              </a:ext>
            </a:extLst>
          </p:cNvPr>
          <p:cNvSpPr txBox="1">
            <a:spLocks/>
          </p:cNvSpPr>
          <p:nvPr/>
        </p:nvSpPr>
        <p:spPr>
          <a:xfrm>
            <a:off x="904374" y="681037"/>
            <a:ext cx="10515600" cy="627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dirty="0"/>
              <a:t>Beispiel Heizung</a:t>
            </a:r>
          </a:p>
        </p:txBody>
      </p:sp>
    </p:spTree>
    <p:extLst>
      <p:ext uri="{BB962C8B-B14F-4D97-AF65-F5344CB8AC3E}">
        <p14:creationId xmlns:p14="http://schemas.microsoft.com/office/powerpoint/2010/main" val="677988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422</Words>
  <Application>Microsoft Office PowerPoint</Application>
  <PresentationFormat>Widescreen</PresentationFormat>
  <Paragraphs>99</Paragraphs>
  <Slides>18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Ermöglichung von Hardware- und Software-in-the-Loop durch die Integration von BaSyx und MATLAB/Simulink</vt:lpstr>
      <vt:lpstr>Gliederung</vt:lpstr>
      <vt:lpstr>1 Einleitung</vt:lpstr>
      <vt:lpstr>1 Einleitung</vt:lpstr>
      <vt:lpstr>2 Technische Grundlagen</vt:lpstr>
      <vt:lpstr>2 Technische Grundlagen</vt:lpstr>
      <vt:lpstr>2 Technische Grundlagen</vt:lpstr>
      <vt:lpstr>2 Technische Grundlagen</vt:lpstr>
      <vt:lpstr>2 Technische Grundlagen</vt:lpstr>
      <vt:lpstr>2 Technische Grundlagen</vt:lpstr>
      <vt:lpstr>2 Technische Grundlagen</vt:lpstr>
      <vt:lpstr>3 Entwicklung</vt:lpstr>
      <vt:lpstr>3 Entwicklung</vt:lpstr>
      <vt:lpstr>3 Entwicklung</vt:lpstr>
      <vt:lpstr>4 Validierung</vt:lpstr>
      <vt:lpstr>4 Validierung</vt:lpstr>
      <vt:lpstr>4 Validierung</vt:lpstr>
      <vt:lpstr>/ Backup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Ermöglichung von Hardware- und Software-in-the-Loop durch die Integration von BaSyx und MATLAB/Simulink</dc:title>
  <dc:creator>Molina, Mateus</dc:creator>
  <cp:lastModifiedBy>Molina, Mateus</cp:lastModifiedBy>
  <cp:revision>39</cp:revision>
  <dcterms:created xsi:type="dcterms:W3CDTF">2022-08-31T07:03:38Z</dcterms:created>
  <dcterms:modified xsi:type="dcterms:W3CDTF">2022-09-02T08:58:00Z</dcterms:modified>
</cp:coreProperties>
</file>